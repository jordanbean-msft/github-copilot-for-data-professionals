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0" r:id="rId14"/>
  </p:sldIdLst>
  <p:sldSz cx="12436475" cy="6950075"/>
  <p:notesSz cx="6950075" cy="124364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655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setting context: this deck follows one end-to-end data workflow and shows exactly where Copilot helps without replacing domain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as a framing slide: Copilot supports velocity and consistency, not judgment replacement.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 audience the rest of the deck follows this exact script order so they can replay it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over-rotate on architecture detail. Anchor to the coding surfaces the audience uses every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practical: synthetic data and edge cases are immediate wins for data engineering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that interpretation plus code generation is more valuable than generation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reliability bridge between exploratory notebooks and production pipelines.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 local-to-platform transition explicit, since this is where teams lose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keeps the story relevant for SQL-heavy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workflow loop by showing decision-support outputs, not only code snippets.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audience a reusable prompting recipe they can apply the same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 Copilot usage metrics with delivery metrics to tell a complete impact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250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4639" y="293400"/>
            <a:ext cx="11889564" cy="911744"/>
          </a:xfrm>
          <a:prstGeom prst="rect">
            <a:avLst/>
          </a:prstGeom>
        </p:spPr>
        <p:txBody>
          <a:bodyPr vert="horz" wrap="square" lIns="146275" tIns="91422" rIns="146275" bIns="91422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74640" y="1205145"/>
            <a:ext cx="11887197" cy="2097915"/>
          </a:xfrm>
          <a:prstGeom prst="rect">
            <a:avLst/>
          </a:prstGeom>
        </p:spPr>
        <p:txBody>
          <a:bodyPr vert="horz" wrap="square" lIns="146275" tIns="91422" rIns="146275" bIns="91422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6" name="Picture 15" descr="Microsoft_logo_(2012).svg.png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7038" y="6352237"/>
            <a:ext cx="1676399" cy="355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583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</p:sldLayoutIdLst>
  <p:transition>
    <p:fade/>
  </p:transition>
  <p:hf sldNum="0" hdr="0" ftr="0" dt="0"/>
  <p:txStyles>
    <p:titleStyle>
      <a:lvl1pPr algn="l" defTabSz="926428" rtl="0" eaLnBrk="1" latinLnBrk="0" hangingPunct="1">
        <a:lnSpc>
          <a:spcPct val="90000"/>
        </a:lnSpc>
        <a:spcBef>
          <a:spcPct val="0"/>
        </a:spcBef>
        <a:buNone/>
        <a:defRPr lang="en-US" sz="4768" b="0" kern="1200" cap="none" spc="-101" baseline="0" dirty="0" smtClean="0">
          <a:ln w="3175">
            <a:noFill/>
          </a:ln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effectLst/>
          <a:latin typeface="+mj-lt"/>
          <a:ea typeface="+mn-ea"/>
          <a:cs typeface="Segoe UI" pitchFamily="34" charset="0"/>
        </a:defRPr>
      </a:lvl1pPr>
    </p:titleStyle>
    <p:bodyStyle>
      <a:lvl1pPr marL="340579" marR="0" indent="-340579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4073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j-lt"/>
          <a:ea typeface="+mn-ea"/>
          <a:cs typeface="+mn-cs"/>
        </a:defRPr>
      </a:lvl1pPr>
      <a:lvl2pPr marL="580248" marR="0" indent="-239666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85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2pPr>
      <a:lvl3pPr marL="794683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87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3pPr>
      <a:lvl4pPr marL="1021737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4pPr>
      <a:lvl5pPr marL="1248788" marR="0" indent="-227052" algn="l" defTabSz="926428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89" kern="1200" spc="0" baseline="0">
          <a:gradFill>
            <a:gsLst>
              <a:gs pos="1250">
                <a:schemeClr val="tx1"/>
              </a:gs>
              <a:gs pos="100000">
                <a:schemeClr val="tx1"/>
              </a:gs>
            </a:gsLst>
            <a:lin ang="5400000" scaled="0"/>
          </a:gradFill>
          <a:latin typeface="+mn-lt"/>
          <a:ea typeface="+mn-ea"/>
          <a:cs typeface="+mn-cs"/>
        </a:defRPr>
      </a:lvl5pPr>
      <a:lvl6pPr marL="254767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6pPr>
      <a:lvl7pPr marL="3010892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7pPr>
      <a:lvl8pPr marL="3474107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8pPr>
      <a:lvl9pPr marL="3937320" indent="-231606" algn="l" defTabSz="926428" rtl="0" eaLnBrk="1" latinLnBrk="0" hangingPunct="1">
        <a:spcBef>
          <a:spcPct val="20000"/>
        </a:spcBef>
        <a:buFont typeface="Arial" pitchFamily="34" charset="0"/>
        <a:buChar char="•"/>
        <a:defRPr sz="19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1pPr>
      <a:lvl2pPr marL="46321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2pPr>
      <a:lvl3pPr marL="926428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3pPr>
      <a:lvl4pPr marL="1389643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4pPr>
      <a:lvl5pPr marL="1852857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5pPr>
      <a:lvl6pPr marL="2316072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6pPr>
      <a:lvl7pPr marL="2779284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7pPr>
      <a:lvl8pPr marL="3242500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8pPr>
      <a:lvl9pPr marL="3705715" algn="l" defTabSz="926428" rtl="0" eaLnBrk="1" latinLnBrk="0" hangingPunct="1">
        <a:defRPr sz="17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87">
          <p15:clr>
            <a:srgbClr val="5ACBF0"/>
          </p15:clr>
        </p15:guide>
        <p15:guide id="2" pos="173">
          <p15:clr>
            <a:srgbClr val="5ACBF0"/>
          </p15:clr>
        </p15:guide>
        <p15:guide id="3" pos="749">
          <p15:clr>
            <a:srgbClr val="5ACBF0"/>
          </p15:clr>
        </p15:guide>
        <p15:guide id="4" pos="1325">
          <p15:clr>
            <a:srgbClr val="5ACBF0"/>
          </p15:clr>
        </p15:guide>
        <p15:guide id="5" pos="1901">
          <p15:clr>
            <a:srgbClr val="5ACBF0"/>
          </p15:clr>
        </p15:guide>
        <p15:guide id="6" pos="2477">
          <p15:clr>
            <a:srgbClr val="5ACBF0"/>
          </p15:clr>
        </p15:guide>
        <p15:guide id="7" pos="3053">
          <p15:clr>
            <a:srgbClr val="5ACBF0"/>
          </p15:clr>
        </p15:guide>
        <p15:guide id="8" pos="3629">
          <p15:clr>
            <a:srgbClr val="5ACBF0"/>
          </p15:clr>
        </p15:guide>
        <p15:guide id="9" pos="4205">
          <p15:clr>
            <a:srgbClr val="5ACBF0"/>
          </p15:clr>
        </p15:guide>
        <p15:guide id="10" pos="4781">
          <p15:clr>
            <a:srgbClr val="5ACBF0"/>
          </p15:clr>
        </p15:guide>
        <p15:guide id="11" pos="5357">
          <p15:clr>
            <a:srgbClr val="5ACBF0"/>
          </p15:clr>
        </p15:guide>
        <p15:guide id="12" pos="5933">
          <p15:clr>
            <a:srgbClr val="5ACBF0"/>
          </p15:clr>
        </p15:guide>
        <p15:guide id="13" pos="6509">
          <p15:clr>
            <a:srgbClr val="5ACBF0"/>
          </p15:clr>
        </p15:guide>
        <p15:guide id="14" pos="7085">
          <p15:clr>
            <a:srgbClr val="5ACBF0"/>
          </p15:clr>
        </p15:guide>
        <p15:guide id="15" pos="7661">
          <p15:clr>
            <a:srgbClr val="5ACBF0"/>
          </p15:clr>
        </p15:guide>
        <p15:guide id="16" pos="288">
          <p15:clr>
            <a:srgbClr val="C35EA4"/>
          </p15:clr>
        </p15:guide>
        <p15:guide id="17" pos="7546">
          <p15:clr>
            <a:srgbClr val="C35EA4"/>
          </p15:clr>
        </p15:guide>
        <p15:guide id="18" orient="horz" pos="763">
          <p15:clr>
            <a:srgbClr val="5ACBF0"/>
          </p15:clr>
        </p15:guide>
        <p15:guide id="19" orient="horz" pos="1339">
          <p15:clr>
            <a:srgbClr val="5ACBF0"/>
          </p15:clr>
        </p15:guide>
        <p15:guide id="20" orient="horz" pos="1915">
          <p15:clr>
            <a:srgbClr val="5ACBF0"/>
          </p15:clr>
        </p15:guide>
        <p15:guide id="21" orient="horz" pos="2491">
          <p15:clr>
            <a:srgbClr val="5ACBF0"/>
          </p15:clr>
        </p15:guide>
        <p15:guide id="22" orient="horz" pos="3067">
          <p15:clr>
            <a:srgbClr val="5ACBF0"/>
          </p15:clr>
        </p15:guide>
        <p15:guide id="23" orient="horz" pos="3643">
          <p15:clr>
            <a:srgbClr val="5ACBF0"/>
          </p15:clr>
        </p15:guide>
        <p15:guide id="24" orient="horz" pos="4219">
          <p15:clr>
            <a:srgbClr val="5ACBF0"/>
          </p15:clr>
        </p15:guide>
        <p15:guide id="25" orient="horz" pos="302">
          <p15:clr>
            <a:srgbClr val="C35EA4"/>
          </p15:clr>
        </p15:guide>
        <p15:guide id="26" orient="horz" pos="4104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355080" cy="6949440"/>
          </a:xfrm>
          <a:prstGeom prst="rect">
            <a:avLst/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85800" y="914400"/>
            <a:ext cx="10348546" cy="12344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</a:rPr>
              <a:t>GitHub Copilot for Data Professionals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46291" y="1666600"/>
            <a:ext cx="9512222" cy="73152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50E6FF"/>
                </a:solidFill>
              </a:rPr>
              <a:t>A supply-chain data workflow: from raw signals to trusted decisions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731520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572000"/>
            <a:ext cx="402336" cy="40233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298448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6736" y="4572000"/>
            <a:ext cx="402336" cy="402336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865376" y="4553712"/>
            <a:ext cx="438912" cy="438912"/>
          </a:xfrm>
          <a:prstGeom prst="roundRect">
            <a:avLst>
              <a:gd name="adj" fmla="val 8333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3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83664" y="4572000"/>
            <a:ext cx="402336" cy="40233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49807" y="5230368"/>
            <a:ext cx="5468429" cy="32004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Jordan Bean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</a:rPr>
              <a:t>Principal Cloud &amp; AI Apps Solution Engineer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GitHub Copilot for data teams</a:t>
            </a:r>
            <a:endParaRPr lang="en-US" sz="3500" dirty="0"/>
          </a:p>
        </p:txBody>
      </p:sp>
      <p:sp>
        <p:nvSpPr>
          <p:cNvPr id="3" name="Shape 1"/>
          <p:cNvSpPr/>
          <p:nvPr/>
        </p:nvSpPr>
        <p:spPr>
          <a:xfrm>
            <a:off x="11109960" y="338328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8248" y="356616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503152" y="338328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356616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658368" y="1078992"/>
            <a:ext cx="128016" cy="201168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32688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Repeated code work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932688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Schema checks, joins, validation rules, Spark transforms, SQL variants and notebook cleanup consume significant engineering time.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639312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3639312" y="1078992"/>
            <a:ext cx="128016" cy="201168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3913632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Context switching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913632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engineers move between Python, PySpark, SQL and platform-specific patterns in the same feature or incident.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620256" y="1078992"/>
            <a:ext cx="27432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6620256" y="1078992"/>
            <a:ext cx="128016" cy="201168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894576" y="1225296"/>
            <a:ext cx="23317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Quality pressure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6894576" y="1609344"/>
            <a:ext cx="233172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iteration is valuable only when tests, data contracts and governance checks remain intact.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9601200" y="1078992"/>
            <a:ext cx="224028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9601200" y="1078992"/>
            <a:ext cx="128016" cy="201168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0" y="1225296"/>
            <a:ext cx="18288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0041"/>
                </a:solidFill>
              </a:rPr>
              <a:t>Copilot fit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9875520" y="1609344"/>
            <a:ext cx="1828800" cy="138988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faster, refine with constraints and validate with guardrails.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58368" y="3859403"/>
            <a:ext cx="11155680" cy="139839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524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914400" y="4041648"/>
            <a:ext cx="10607040" cy="1097280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Copilot is most useful for accelerating the middle of data work: drafting, explaining and refactoring code. </a:t>
            </a:r>
          </a:p>
          <a:p>
            <a:pPr marL="0" indent="0">
              <a:buNone/>
            </a:pPr>
            <a:endParaRPr lang="en-US" sz="2000" b="1" dirty="0">
              <a:solidFill>
                <a:srgbClr val="000041"/>
              </a:solidFill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Data professionals still own data meaning, reliability and production readiness.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supply-chain workflow for this demo</a:t>
            </a:r>
            <a:endParaRPr lang="en-US" sz="3400" dirty="0"/>
          </a:p>
        </p:txBody>
      </p:sp>
      <p:pic>
        <p:nvPicPr>
          <p:cNvPr id="3" name="Image 0" descr="/home/jordanbean/source/repos/github-copilot-for-data-professionals/deck/assets/workflow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1560"/>
            <a:ext cx="11064240" cy="2514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376732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78D3"/>
                </a:solidFill>
              </a:rPr>
              <a:t>Step 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965960" y="384048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Generate supply-chain source data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537960" y="38404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examples/python/00_generate_sample_data.py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4197096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14400" y="4270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0E6FF"/>
                </a:solidFill>
              </a:rPr>
              <a:t>Step 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65960" y="4270248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Profile orders, shipments and inventory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37960" y="4270248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examples/python/01_ingest_profile.py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31520" y="4626864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914400" y="47000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07C10"/>
                </a:solidFill>
              </a:rPr>
              <a:t>Step 3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65960" y="4700016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Create quality checks and quarantine paths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537960" y="4700016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examples/python/02_data_quality_checks.py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31520" y="5056632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914400" y="5129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5C2D91"/>
                </a:solidFill>
              </a:rPr>
              <a:t>Step 4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65960" y="5129784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Transform supplier and inventory signals in Fabric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537960" y="5129784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examples/python/03_fabric_spark_transform.py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31520" y="5486400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6FB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14400" y="55595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F7630C"/>
                </a:solidFill>
              </a:rPr>
              <a:t>Step 5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965960" y="5559552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Analyze late shipments and stockout risk in SQL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537960" y="5559552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examples/sql/04_fabric_sql_analytics.sql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731520" y="5916168"/>
            <a:ext cx="11018520" cy="356616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7620">
            <a:solidFill>
              <a:srgbClr val="DADD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914400" y="59893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Step 6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965960" y="5989320"/>
            <a:ext cx="443484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00041"/>
                </a:solidFill>
              </a:rPr>
              <a:t>Predict late-delivery risk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37960" y="5989320"/>
            <a:ext cx="4983480" cy="182880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75757A"/>
                </a:solidFill>
              </a:rPr>
              <a:t>examples/python/05_feature_engineering_ml.py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 environment: GitHub + Copilot + Microsoft Fabric</a:t>
            </a:r>
            <a:endParaRPr lang="en-US" sz="2800" dirty="0"/>
          </a:p>
        </p:txBody>
      </p:sp>
      <p:pic>
        <p:nvPicPr>
          <p:cNvPr id="9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7280"/>
            <a:ext cx="11064240" cy="448056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685800" y="5650992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5"/>
          <p:cNvSpPr/>
          <p:nvPr/>
        </p:nvSpPr>
        <p:spPr>
          <a:xfrm>
            <a:off x="685800" y="5650992"/>
            <a:ext cx="128016" cy="658368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/>
          <p:cNvSpPr/>
          <p:nvPr/>
        </p:nvSpPr>
        <p:spPr>
          <a:xfrm>
            <a:off x="955548" y="5870448"/>
            <a:ext cx="10652760" cy="21945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</a:rPr>
              <a:t>One connected workflow: purchase orders + shipments + inventory -&gt; trusted tables -&gt; risk analytics -&gt; prediction.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1. Generate supply-chain data quickly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607040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512064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91088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76" y="512064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375136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3424" y="512064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realistic purchase orders, shipments and inventory snapshots with normal behavior plus controlled anomalies.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generator code, then add edge cases such as missing plants, blank carriers, negative costs and low inventory.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Teams start faster with representative operational data and spend less time hand-crafting fixtures.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code-win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faster scenario setup and better supply-chain test coverage.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purchase orders + shipments + inventory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2. Profile operational data and surface risks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460736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9024" y="512064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844784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3072" y="512064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228832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512064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Understand order, shipment and inventory quality before building downstream transformations.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Generate reusable profiling helpers for missing plants, blank carriers, value ranges and sample records.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Ad-hoc exploration becomes a repeatable profiling step for every supply-chain dataset.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issue discovery before pipeline logic is written.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automated profile summary for operational tables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3. Operationalize data quality checks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625328" y="4797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3616" y="497996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009376" y="4797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4" y="497996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393424" y="4797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1712" y="497996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Enforce data contracts so bad operational records do not silently flow into analytics and models.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validation rules for required fields, positive quantities, plausible dates and non-negative costs.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Higher reliability with less manual coding effort for recurring quality controls.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quality-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better trust in supplier scorecards and inventory risk views.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PO, shipment and inventory quarantine checks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4. Transform supplier and inventory signals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607040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512064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91088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76" y="512064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375136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3424" y="512064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Move from local dataframe logic to scalable Fabric lakehouse transformations for supplier and stockout risk.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Translate pandas scorecards into PySpark and propose Delta table write patterns for reuse.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path from prototype to production-ready processing in Microsoft Fabric.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fabric-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reduced rework when scaling local logic.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supplier delivery + inventory risk transformations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5. Analyze supply-chain risk in SQL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607040" y="47091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5328" y="489204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91088" y="47091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9376" y="489204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375136" y="47091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93424" y="489204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Turn operational questions into explainable SQL analysis on lakehouse tables.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Draft the SQL, then explain assumptions in joins, filters and window logic.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Analysts identify risky suppliers, lanes and parts faster while keeping logic transparent.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sql-analytic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quicker insight generation with clearer SQL intent.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late-delivery and stockout risk analysis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6. Predict late-shipment risk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442448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0736" y="512064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826496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4784" y="512064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210544" y="49377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2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512064"/>
            <a:ext cx="292608" cy="29260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658368" y="100584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6FB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5"/>
          <p:cNvSpPr/>
          <p:nvPr/>
        </p:nvSpPr>
        <p:spPr>
          <a:xfrm>
            <a:off x="658368" y="100584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6"/>
          <p:cNvSpPr/>
          <p:nvPr/>
        </p:nvSpPr>
        <p:spPr>
          <a:xfrm>
            <a:off x="932688" y="1152144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Data task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932688" y="1536192"/>
            <a:ext cx="480060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000000"/>
                </a:solidFill>
              </a:rPr>
              <a:t>Create supply-chain risk features and evaluate a baseline model from orders, shipments and inventory.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58368" y="2212848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658368" y="2212848"/>
            <a:ext cx="128016" cy="14630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932688" y="2359152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How Copilot helps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932688" y="2743200"/>
            <a:ext cx="4800600" cy="8412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Suggest additional features, check leakage risk and explain likely drivers in plain language.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58368" y="3822192"/>
            <a:ext cx="52120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658368" y="3822192"/>
            <a:ext cx="128016" cy="1572768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932688" y="39684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000041"/>
                </a:solidFill>
              </a:rPr>
              <a:t>Value to the team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932688" y="4352544"/>
            <a:ext cx="4800600" cy="950976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Data scientists iterate on experiments faster and communicate model behavior more clearly.</a:t>
            </a:r>
            <a:endParaRPr lang="en-US" sz="1250" dirty="0"/>
          </a:p>
        </p:txBody>
      </p:sp>
      <p:pic>
        <p:nvPicPr>
          <p:cNvPr id="21" name="Image 3" descr="/home/jordanbean/source/repos/github-copilot-for-data-professionals/deck/assets/model-featu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1005840"/>
            <a:ext cx="5577840" cy="4389120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144768" y="5559552"/>
            <a:ext cx="5577840" cy="658368"/>
          </a:xfrm>
          <a:prstGeom prst="roundRect">
            <a:avLst>
              <a:gd name="adj" fmla="val 11111"/>
            </a:avLst>
          </a:prstGeom>
          <a:solidFill>
            <a:srgbClr val="000041"/>
          </a:solidFill>
          <a:ln w="12700">
            <a:solidFill>
              <a:srgbClr val="0000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6364224" y="5724144"/>
            <a:ext cx="5138928" cy="29260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Outcome: shorter experiment cycles and better stakeholder understanding.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41248" y="5742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75757A"/>
                </a:solidFill>
              </a:rPr>
              <a:t>Live example: late-shipment feature set and classification baseline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4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Prompt framework that works for data teams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54512" y="534924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553212"/>
            <a:ext cx="301752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347704" y="534924"/>
            <a:ext cx="338328" cy="338328"/>
          </a:xfrm>
          <a:prstGeom prst="roundRect">
            <a:avLst>
              <a:gd name="adj" fmla="val 108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/home/jordanbean/source/repos/github-copilot-for-data-professionals/deck/assets/icons/microsoft-fabr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65992" y="553212"/>
            <a:ext cx="301752" cy="30175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13232" y="109728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4"/>
          <p:cNvSpPr/>
          <p:nvPr/>
        </p:nvSpPr>
        <p:spPr>
          <a:xfrm>
            <a:off x="713232" y="1097280"/>
            <a:ext cx="128016" cy="100584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987552" y="124358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1. Context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987552" y="162763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Dataset shape, schema, platform (Fabric) and business goal.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13232" y="233172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713232" y="2331720"/>
            <a:ext cx="128016" cy="1005840"/>
          </a:xfrm>
          <a:prstGeom prst="rect">
            <a:avLst/>
          </a:prstGeom>
          <a:solidFill>
            <a:srgbClr val="50E6FF"/>
          </a:solidFill>
          <a:ln w="12700">
            <a:solidFill>
              <a:srgbClr val="50E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987552" y="247802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2. Task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987552" y="286207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What to produce: code, SQL, tests, explanation, or refactor.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13232" y="356616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713232" y="3566160"/>
            <a:ext cx="128016" cy="100584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987552" y="371246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3. Constraints</a:t>
            </a:r>
            <a:endParaRPr lang="en-US" sz="2000" dirty="0"/>
          </a:p>
        </p:txBody>
      </p:sp>
      <p:sp>
        <p:nvSpPr>
          <p:cNvPr id="18" name="Text 14"/>
          <p:cNvSpPr/>
          <p:nvPr/>
        </p:nvSpPr>
        <p:spPr>
          <a:xfrm>
            <a:off x="987552" y="409651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Performance limits, naming standards, privacy requirements and accepted libraries.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713232" y="4800600"/>
            <a:ext cx="1097280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713232" y="4800600"/>
            <a:ext cx="128016" cy="100584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987552" y="4946904"/>
            <a:ext cx="1056132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0041"/>
                </a:solidFill>
              </a:rPr>
              <a:t>4. Verification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987552" y="5330952"/>
            <a:ext cx="10561320" cy="38404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</a:rPr>
              <a:t>Ask Copilot to add tests, edge cases, assumptions and failure handling.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to measure value</a:t>
            </a:r>
            <a:endParaRPr lang="en-US" sz="3500" dirty="0"/>
          </a:p>
        </p:txBody>
      </p:sp>
      <p:pic>
        <p:nvPicPr>
          <p:cNvPr id="3" name="Image 0" descr="/home/jordanbean/source/repos/github-copilot-for-data-professionals/deck/assets/metrics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97280"/>
            <a:ext cx="576072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826496" y="47548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1" descr="/home/jordanbean/source/repos/github-copilot-for-data-professionals/deck/assets/icons/github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44784" y="493776"/>
            <a:ext cx="292608" cy="29260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1210544" y="47548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>
              <a:alpha val="92000"/>
            </a:srgbClr>
          </a:solidFill>
          <a:ln w="6350">
            <a:solidFill>
              <a:srgbClr val="D0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2" descr="/home/jordanbean/source/repos/github-copilot-for-data-professionals/deck/assets/icons/github-copil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493776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720840" y="114300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4"/>
          <p:cNvSpPr/>
          <p:nvPr/>
        </p:nvSpPr>
        <p:spPr>
          <a:xfrm>
            <a:off x="6720840" y="1143000"/>
            <a:ext cx="128016" cy="1051560"/>
          </a:xfrm>
          <a:prstGeom prst="rect">
            <a:avLst/>
          </a:prstGeom>
          <a:solidFill>
            <a:srgbClr val="0078D3"/>
          </a:solidFill>
          <a:ln w="12700">
            <a:solidFill>
              <a:srgbClr val="0078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995160" y="12893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Speed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995160" y="1673352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Time to first working draft for notebook, transform, or SQL query.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720840" y="2359152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/>
          <p:cNvSpPr/>
          <p:nvPr/>
        </p:nvSpPr>
        <p:spPr>
          <a:xfrm>
            <a:off x="6720840" y="2359152"/>
            <a:ext cx="128016" cy="1051560"/>
          </a:xfrm>
          <a:prstGeom prst="rect">
            <a:avLst/>
          </a:prstGeom>
          <a:solidFill>
            <a:srgbClr val="107C10"/>
          </a:solidFill>
          <a:ln w="12700">
            <a:solidFill>
              <a:srgbClr val="107C1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6995160" y="2505456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Quality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995160" y="2889504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Defect escape rate, test coverage on generated helpers and review findings.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720840" y="3575304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6720840" y="3575304"/>
            <a:ext cx="128016" cy="1051560"/>
          </a:xfrm>
          <a:prstGeom prst="rect">
            <a:avLst/>
          </a:prstGeom>
          <a:solidFill>
            <a:srgbClr val="5C2D91"/>
          </a:solidFill>
          <a:ln w="12700">
            <a:solidFill>
              <a:srgbClr val="5C2D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6995160" y="3721608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Reuse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995160" y="4105656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Adoption of shared prompt templates and common utility modules.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720840" y="4791456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24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720840" y="4791456"/>
            <a:ext cx="128016" cy="1051560"/>
          </a:xfrm>
          <a:prstGeom prst="rect">
            <a:avLst/>
          </a:prstGeom>
          <a:solidFill>
            <a:srgbClr val="F7630C"/>
          </a:solidFill>
          <a:ln w="12700">
            <a:solidFill>
              <a:srgbClr val="F763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995160" y="4937760"/>
            <a:ext cx="4526280" cy="38404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0041"/>
                </a:solidFill>
              </a:rPr>
              <a:t>Business impact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995160" y="5321808"/>
            <a:ext cx="4526280" cy="429768"/>
          </a:xfrm>
          <a:prstGeom prst="rect">
            <a:avLst/>
          </a:prstGeom>
          <a:noFill/>
          <a:ln/>
        </p:spPr>
        <p:txBody>
          <a:bodyPr wrap="square" lIns="254" tIns="12700" rIns="254" bIns="1270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00000"/>
                </a:solidFill>
              </a:rPr>
              <a:t>Faster cycle time from data ingestion to trusted analytics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50C2843D-B81A-BFA7-F044-F8536623C4B9}"/>
              </a:ext>
            </a:extLst>
          </p:cNvPr>
          <p:cNvSpPr/>
          <p:nvPr/>
        </p:nvSpPr>
        <p:spPr>
          <a:xfrm>
            <a:off x="566928" y="3108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12700" rIns="0" bIns="1270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0041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Questions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641808144"/>
      </p:ext>
    </p:extLst>
  </p:cSld>
  <p:clrMapOvr>
    <a:masterClrMapping/>
  </p:clrMapOvr>
</p:sld>
</file>

<file path=ppt/theme/theme1.xml><?xml version="1.0" encoding="utf-8"?>
<a:theme xmlns:a="http://schemas.openxmlformats.org/drawingml/2006/main" name="WHITE TEMPLATE">
  <a:themeElements>
    <a:clrScheme name="MSVID White and Teal_10-2014">
      <a:dk1>
        <a:srgbClr val="505050"/>
      </a:dk1>
      <a:lt1>
        <a:srgbClr val="FFFFFF"/>
      </a:lt1>
      <a:dk2>
        <a:srgbClr val="008272"/>
      </a:dk2>
      <a:lt2>
        <a:srgbClr val="D5F7F6"/>
      </a:lt2>
      <a:accent1>
        <a:srgbClr val="008272"/>
      </a:accent1>
      <a:accent2>
        <a:srgbClr val="B4009E"/>
      </a:accent2>
      <a:accent3>
        <a:srgbClr val="004B50"/>
      </a:accent3>
      <a:accent4>
        <a:srgbClr val="0078D7"/>
      </a:accent4>
      <a:accent5>
        <a:srgbClr val="5C2D91"/>
      </a:accent5>
      <a:accent6>
        <a:srgbClr val="D83B01"/>
      </a:accent6>
      <a:hlink>
        <a:srgbClr val="008272"/>
      </a:hlink>
      <a:folHlink>
        <a:srgbClr val="008272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oduct_Brand_template_16-9_Business_TEAL_1" id="{5E4F6A35-5222-4964-BF6B-D8D6040D0130}" vid="{5DED90E8-4E6D-48DC-ABF5-5DF803FF645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0-WTH-Lectures-Template</Template>
  <TotalTime>16</TotalTime>
  <Words>1121</Words>
  <Application>Microsoft Office PowerPoint</Application>
  <PresentationFormat>Custom</PresentationFormat>
  <Paragraphs>134</Paragraphs>
  <Slides>13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Segoe UI</vt:lpstr>
      <vt:lpstr>Segoe UI Light</vt:lpstr>
      <vt:lpstr>Segoe UI Semibold</vt:lpstr>
      <vt:lpstr>WHITE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for Data Professionals</dc:title>
  <dc:subject>GitHub Copilot for supply-chain data engineers and data scientists</dc:subject>
  <dc:creator>Jordan Bean</dc:creator>
  <cp:lastModifiedBy>Jordan Bean</cp:lastModifiedBy>
  <cp:revision>19</cp:revision>
  <dcterms:created xsi:type="dcterms:W3CDTF">2026-08-30T23:26:51Z</dcterms:created>
  <dcterms:modified xsi:type="dcterms:W3CDTF">2026-08-31T13:01:51Z</dcterms:modified>
</cp:coreProperties>
</file>