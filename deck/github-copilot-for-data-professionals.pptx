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</p:sldIdLst>
  <p:sldSz cx="12436475" cy="6950075"/>
  <p:notesSz cx="6950075" cy="12436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552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setting context: this deck follows one end-to-end data workflow and shows exactly where Copilot helps without replacing domain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framing slide: Copilot supports velocity and consistency, not judgment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audience the rest of the deck follows this exact script order so they can replay it after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over-rotate on architecture detail. Anchor to the coding surfaces the audience uses every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practical: synthetic data and edge cases are immediate wins for data engineering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interpretation plus code generation is more valuable than generation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reliability bridge between exploratory notebooks and production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local-to-platform transition explicit, since this is where teams lose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keeps the story relevant for SQL-heavy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workflow loop by showing decision-support outputs, not only code snippets.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audience a reusable prompting recipe they can apply the same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Copilot usage metrics with delivery metrics to tell a complete impact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9250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3400"/>
            <a:ext cx="11889564" cy="911744"/>
          </a:xfrm>
          <a:prstGeom prst="rect">
            <a:avLst/>
          </a:prstGeom>
        </p:spPr>
        <p:txBody>
          <a:bodyPr vert="horz" wrap="square" lIns="146275" tIns="91422" rIns="146275" bIns="91422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05145"/>
            <a:ext cx="11887197" cy="2097915"/>
          </a:xfrm>
          <a:prstGeom prst="rect">
            <a:avLst/>
          </a:prstGeom>
        </p:spPr>
        <p:txBody>
          <a:bodyPr vert="horz" wrap="square" lIns="146275" tIns="91422" rIns="146275" bIns="91422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 descr="Microsoft_logo_(2012).svg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038" y="6352237"/>
            <a:ext cx="1676399" cy="35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8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ransition>
    <p:fade/>
  </p:transition>
  <p:hf sldNum="0" hdr="0" ftr="0" dt="0"/>
  <p:txStyles>
    <p:titleStyle>
      <a:lvl1pPr algn="l" defTabSz="926428" rtl="0" eaLnBrk="1" latinLnBrk="0" hangingPunct="1">
        <a:lnSpc>
          <a:spcPct val="90000"/>
        </a:lnSpc>
        <a:spcBef>
          <a:spcPct val="0"/>
        </a:spcBef>
        <a:buNone/>
        <a:defRPr lang="en-US" sz="4768" b="0" kern="1200" cap="none" spc="-101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0579" marR="0" indent="-340579" algn="l" defTabSz="926428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73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0248" marR="0" indent="-239666" algn="l" defTabSz="926428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8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794683" marR="0" indent="-227052" algn="l" defTabSz="926428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87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1737" marR="0" indent="-227052" algn="l" defTabSz="926428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89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48788" marR="0" indent="-227052" algn="l" defTabSz="926428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89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47677" indent="-231606" algn="l" defTabSz="926428" rtl="0" eaLnBrk="1" latinLnBrk="0" hangingPunct="1">
        <a:spcBef>
          <a:spcPct val="20000"/>
        </a:spcBef>
        <a:buFont typeface="Arial" pitchFamily="34" charset="0"/>
        <a:buChar char="•"/>
        <a:defRPr sz="1987" kern="1200">
          <a:solidFill>
            <a:schemeClr val="tx1"/>
          </a:solidFill>
          <a:latin typeface="+mn-lt"/>
          <a:ea typeface="+mn-ea"/>
          <a:cs typeface="+mn-cs"/>
        </a:defRPr>
      </a:lvl6pPr>
      <a:lvl7pPr marL="3010892" indent="-231606" algn="l" defTabSz="926428" rtl="0" eaLnBrk="1" latinLnBrk="0" hangingPunct="1">
        <a:spcBef>
          <a:spcPct val="20000"/>
        </a:spcBef>
        <a:buFont typeface="Arial" pitchFamily="34" charset="0"/>
        <a:buChar char="•"/>
        <a:defRPr sz="1987" kern="1200">
          <a:solidFill>
            <a:schemeClr val="tx1"/>
          </a:solidFill>
          <a:latin typeface="+mn-lt"/>
          <a:ea typeface="+mn-ea"/>
          <a:cs typeface="+mn-cs"/>
        </a:defRPr>
      </a:lvl7pPr>
      <a:lvl8pPr marL="3474107" indent="-231606" algn="l" defTabSz="926428" rtl="0" eaLnBrk="1" latinLnBrk="0" hangingPunct="1">
        <a:spcBef>
          <a:spcPct val="20000"/>
        </a:spcBef>
        <a:buFont typeface="Arial" pitchFamily="34" charset="0"/>
        <a:buChar char="•"/>
        <a:defRPr sz="1987" kern="1200">
          <a:solidFill>
            <a:schemeClr val="tx1"/>
          </a:solidFill>
          <a:latin typeface="+mn-lt"/>
          <a:ea typeface="+mn-ea"/>
          <a:cs typeface="+mn-cs"/>
        </a:defRPr>
      </a:lvl8pPr>
      <a:lvl9pPr marL="3937320" indent="-231606" algn="l" defTabSz="926428" rtl="0" eaLnBrk="1" latinLnBrk="0" hangingPunct="1">
        <a:spcBef>
          <a:spcPct val="20000"/>
        </a:spcBef>
        <a:buFont typeface="Arial" pitchFamily="34" charset="0"/>
        <a:buChar char="•"/>
        <a:defRPr sz="19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26428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1pPr>
      <a:lvl2pPr marL="463214" algn="l" defTabSz="926428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2pPr>
      <a:lvl3pPr marL="926428" algn="l" defTabSz="926428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3pPr>
      <a:lvl4pPr marL="1389643" algn="l" defTabSz="926428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4pPr>
      <a:lvl5pPr marL="1852857" algn="l" defTabSz="926428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5pPr>
      <a:lvl6pPr marL="2316072" algn="l" defTabSz="926428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6pPr>
      <a:lvl7pPr marL="2779284" algn="l" defTabSz="926428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7pPr>
      <a:lvl8pPr marL="3242500" algn="l" defTabSz="926428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8pPr>
      <a:lvl9pPr marL="3705715" algn="l" defTabSz="926428" rtl="0" eaLnBrk="1" latinLnBrk="0" hangingPunct="1">
        <a:defRPr sz="17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55080" cy="6949440"/>
          </a:xfrm>
          <a:prstGeom prst="rect">
            <a:avLst/>
          </a:prstGeom>
          <a:solidFill>
            <a:srgbClr val="000041"/>
          </a:solidFill>
          <a:ln w="12700">
            <a:solidFill>
              <a:srgbClr val="000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914400"/>
            <a:ext cx="10348546" cy="123444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GitHub Copilot for Data Professionals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46291" y="1666600"/>
            <a:ext cx="9512222" cy="73152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50E6FF"/>
                </a:solidFill>
              </a:rPr>
              <a:t>A supply-chain data workflow: from raw signals to trusted decisions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31520" y="4553712"/>
            <a:ext cx="438912" cy="438912"/>
          </a:xfrm>
          <a:prstGeom prst="roundRect">
            <a:avLst>
              <a:gd name="adj" fmla="val 8333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jordanbean/source/repos/github-copilot-for-data-professionals/deck/assets/icons/github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572000"/>
            <a:ext cx="402336" cy="4023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298448" y="4553712"/>
            <a:ext cx="438912" cy="438912"/>
          </a:xfrm>
          <a:prstGeom prst="roundRect">
            <a:avLst>
              <a:gd name="adj" fmla="val 8333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/home/jordanbean/source/repos/github-copilot-for-data-professionals/deck/assets/icons/github-co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4572000"/>
            <a:ext cx="402336" cy="40233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865376" y="4553712"/>
            <a:ext cx="438912" cy="438912"/>
          </a:xfrm>
          <a:prstGeom prst="roundRect">
            <a:avLst>
              <a:gd name="adj" fmla="val 8333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/home/jordanbean/source/repos/github-copilot-for-data-professionals/deck/assets/icons/microsoft-fabr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3664" y="4572000"/>
            <a:ext cx="402336" cy="40233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5230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Jordan Bean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Principal Cloud &amp; AI Apps Solution Engineer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00004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Copilot for data teams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11109960" y="338328"/>
            <a:ext cx="338328" cy="338328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jordanbean/source/repos/github-copilot-for-data-professionals/deck/assets/icons/github-copi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8248" y="356616"/>
            <a:ext cx="301752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503152" y="338328"/>
            <a:ext cx="338328" cy="338328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jordanbean/source/repos/github-copilot-for-data-professionals/deck/assets/icons/microsoft-fabr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0" y="356616"/>
            <a:ext cx="301752" cy="3017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" y="1078992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58368" y="1078992"/>
            <a:ext cx="128016" cy="2011680"/>
          </a:xfrm>
          <a:prstGeom prst="rect">
            <a:avLst/>
          </a:prstGeom>
          <a:solidFill>
            <a:srgbClr val="0078D3"/>
          </a:solidFill>
          <a:ln w="1270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32688" y="1225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0041"/>
                </a:solidFill>
              </a:rPr>
              <a:t>Repeated code work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32688" y="1609344"/>
            <a:ext cx="2331720" cy="138988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</a:rPr>
              <a:t>Schema checks, joins, validation rules, Spark transforms, SQL variants, and notebook cleanup consume significant engineering time.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639312" y="1078992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639312" y="1078992"/>
            <a:ext cx="128016" cy="201168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913632" y="1225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0041"/>
                </a:solidFill>
              </a:rPr>
              <a:t>Context switching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913632" y="1609344"/>
            <a:ext cx="2331720" cy="138988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</a:rPr>
              <a:t>Data engineers move between Python, PySpark, SQL, and platform-specific patterns in the same feature or incident.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620256" y="1078992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F763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620256" y="1078992"/>
            <a:ext cx="128016" cy="2011680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894576" y="1225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0041"/>
                </a:solidFill>
              </a:rPr>
              <a:t>Quality pressure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894576" y="1609344"/>
            <a:ext cx="2331720" cy="138988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</a:rPr>
              <a:t>Faster iteration is valuable only when tests, data contracts, and governance checks remain intact.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9601200" y="1078992"/>
            <a:ext cx="2240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24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601200" y="1078992"/>
            <a:ext cx="128016" cy="201168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9875520" y="12252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0041"/>
                </a:solidFill>
              </a:rPr>
              <a:t>Copilot fit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9875520" y="1609344"/>
            <a:ext cx="1828800" cy="138988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Draft faster, refine with constraints, and validate with guardrails.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58368" y="3859403"/>
            <a:ext cx="11155680" cy="139839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240">
            <a:solidFill>
              <a:srgbClr val="000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914400" y="4041648"/>
            <a:ext cx="10607040" cy="1097280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0041"/>
                </a:solidFill>
              </a:rPr>
              <a:t>Copilot is most useful for accelerating the middle of data work: drafting, explaining, and refactoring code. Data professionals still own data meaning, reliability, and production readiness.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0004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supply-chain workflow for this demo</a:t>
            </a:r>
            <a:endParaRPr lang="en-US" sz="3400" dirty="0"/>
          </a:p>
        </p:txBody>
      </p:sp>
      <p:pic>
        <p:nvPicPr>
          <p:cNvPr id="3" name="Image 0" descr="/home/jordanbean/source/repos/github-copilot-for-data-professionals/deck/assets/workflow-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1560"/>
            <a:ext cx="11064240" cy="2514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3767328"/>
            <a:ext cx="11018520" cy="356616"/>
          </a:xfrm>
          <a:prstGeom prst="roundRect">
            <a:avLst>
              <a:gd name="adj" fmla="val 12821"/>
            </a:avLst>
          </a:prstGeom>
          <a:solidFill>
            <a:srgbClr val="F6FBFF"/>
          </a:solidFill>
          <a:ln w="7620">
            <a:solidFill>
              <a:srgbClr val="DA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78D3"/>
                </a:solidFill>
              </a:rPr>
              <a:t>Step 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965960" y="3840480"/>
            <a:ext cx="443484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0041"/>
                </a:solidFill>
              </a:rPr>
              <a:t>Generate supply-chain source data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37960" y="3840480"/>
            <a:ext cx="498348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5757A"/>
                </a:solidFill>
              </a:rPr>
              <a:t>examples/python/00_generate_sample_data.py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4197096"/>
            <a:ext cx="11018520" cy="356616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7620">
            <a:solidFill>
              <a:srgbClr val="DA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4270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0E6FF"/>
                </a:solidFill>
              </a:rPr>
              <a:t>Step 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65960" y="4270248"/>
            <a:ext cx="443484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0041"/>
                </a:solidFill>
              </a:rPr>
              <a:t>Profile orders, shipments, and inventory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37960" y="4270248"/>
            <a:ext cx="498348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5757A"/>
                </a:solidFill>
              </a:rPr>
              <a:t>examples/python/01_ingest_profile.py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4626864"/>
            <a:ext cx="11018520" cy="356616"/>
          </a:xfrm>
          <a:prstGeom prst="roundRect">
            <a:avLst>
              <a:gd name="adj" fmla="val 12821"/>
            </a:avLst>
          </a:prstGeom>
          <a:solidFill>
            <a:srgbClr val="F6FBFF"/>
          </a:solidFill>
          <a:ln w="7620">
            <a:solidFill>
              <a:srgbClr val="DA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47000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07C10"/>
                </a:solidFill>
              </a:rPr>
              <a:t>Step 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65960" y="4700016"/>
            <a:ext cx="443484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0041"/>
                </a:solidFill>
              </a:rPr>
              <a:t>Create quality checks and quarantine paths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37960" y="4700016"/>
            <a:ext cx="498348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5757A"/>
                </a:solidFill>
              </a:rPr>
              <a:t>examples/python/02_data_quality_checks.py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5056632"/>
            <a:ext cx="11018520" cy="356616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7620">
            <a:solidFill>
              <a:srgbClr val="DA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14400" y="51297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C2D91"/>
                </a:solidFill>
              </a:rPr>
              <a:t>Step 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965960" y="5129784"/>
            <a:ext cx="443484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0041"/>
                </a:solidFill>
              </a:rPr>
              <a:t>Transform supplier and inventory signals in Fabric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37960" y="5129784"/>
            <a:ext cx="498348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5757A"/>
                </a:solidFill>
              </a:rPr>
              <a:t>examples/python/03_fabric_spark_transform.py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5486400"/>
            <a:ext cx="11018520" cy="356616"/>
          </a:xfrm>
          <a:prstGeom prst="roundRect">
            <a:avLst>
              <a:gd name="adj" fmla="val 12821"/>
            </a:avLst>
          </a:prstGeom>
          <a:solidFill>
            <a:srgbClr val="F6FBFF"/>
          </a:solidFill>
          <a:ln w="7620">
            <a:solidFill>
              <a:srgbClr val="DA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14400" y="55595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7630C"/>
                </a:solidFill>
              </a:rPr>
              <a:t>Step 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965960" y="55595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0041"/>
                </a:solidFill>
              </a:rPr>
              <a:t>Analyze late shipments and stockout risk in SQL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37960" y="5559552"/>
            <a:ext cx="498348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5757A"/>
                </a:solidFill>
              </a:rPr>
              <a:t>examples/sql/04_fabric_sql_analytics.sql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1520" y="5916168"/>
            <a:ext cx="11018520" cy="356616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7620">
            <a:solidFill>
              <a:srgbClr val="DA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14400" y="5989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0041"/>
                </a:solidFill>
              </a:rPr>
              <a:t>Step 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965960" y="5989320"/>
            <a:ext cx="443484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0041"/>
                </a:solidFill>
              </a:rPr>
              <a:t>Predict late-delivery risk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37960" y="5989320"/>
            <a:ext cx="4983480" cy="182880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5757A"/>
                </a:solidFill>
              </a:rPr>
              <a:t>examples/python/05_feature_engineering_ml.py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4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 environment: GitHub + Copilot + Microsoft Fabric</a:t>
            </a:r>
            <a:endParaRPr lang="en-US" sz="2800" dirty="0"/>
          </a:p>
        </p:txBody>
      </p:sp>
      <p:pic>
        <p:nvPicPr>
          <p:cNvPr id="9" name="Image 3" descr="/home/jordanbean/source/repos/github-copilot-for-data-professionals/deck/assets/fabric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7280"/>
            <a:ext cx="11064240" cy="448056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85800" y="565099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6FBFF"/>
          </a:solidFill>
          <a:ln w="1524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685800" y="5650992"/>
            <a:ext cx="128016" cy="658368"/>
          </a:xfrm>
          <a:prstGeom prst="rect">
            <a:avLst/>
          </a:prstGeom>
          <a:solidFill>
            <a:srgbClr val="0078D3"/>
          </a:solidFill>
          <a:ln w="1270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/>
          <p:nvPr/>
        </p:nvSpPr>
        <p:spPr>
          <a:xfrm>
            <a:off x="955548" y="5870448"/>
            <a:ext cx="10652760" cy="219456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</a:rPr>
              <a:t>One connected workflow: purchase orders + shipments + inventory -&gt; trusted tables -&gt; risk analytics -&gt; prediction.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004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1. Generate supply-chain data quickly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74352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jordanbean/source/repos/github-copilot-for-data-professionals/deck/assets/icons/github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2004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00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jordanbean/source/repos/github-copilot-for-data-professionals/deck/assets/icons/github-co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88" y="320040"/>
            <a:ext cx="292608" cy="292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442448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/home/jordanbean/source/repos/github-copilot-for-data-professionals/deck/assets/icons/microsoft-fabr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6" y="320040"/>
            <a:ext cx="292608" cy="29260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58368" y="10058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6FBFF"/>
          </a:solidFill>
          <a:ln w="1524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658368" y="1005840"/>
            <a:ext cx="128016" cy="1051560"/>
          </a:xfrm>
          <a:prstGeom prst="rect">
            <a:avLst/>
          </a:prstGeom>
          <a:solidFill>
            <a:srgbClr val="0078D3"/>
          </a:solidFill>
          <a:ln w="1270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932688" y="11521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Data task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32688" y="1536192"/>
            <a:ext cx="4800600" cy="42976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</a:rPr>
              <a:t>Create realistic purchase orders, shipments, and inventory snapshots with normal behavior plus controlled anomalies.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58368" y="2212848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658368" y="2212848"/>
            <a:ext cx="128016" cy="14630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932688" y="23591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How Copilot helps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32688" y="2743200"/>
            <a:ext cx="4800600" cy="84124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Draft generator code, then add edge cases such as missing plants, blank carriers, negative costs, and low inventory.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8368" y="3822192"/>
            <a:ext cx="52120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58368" y="3822192"/>
            <a:ext cx="128016" cy="157276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932688" y="39684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Value to the team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32688" y="4352544"/>
            <a:ext cx="4800600" cy="950976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</a:rPr>
              <a:t>Teams start faster with representative operational data and spend less time hand-crafting fixtures.</a:t>
            </a:r>
            <a:endParaRPr lang="en-US" sz="1250" dirty="0"/>
          </a:p>
        </p:txBody>
      </p:sp>
      <p:pic>
        <p:nvPicPr>
          <p:cNvPr id="21" name="Image 3" descr="/home/jordanbean/source/repos/github-copilot-for-data-professionals/deck/assets/code-wind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1005840"/>
            <a:ext cx="5577840" cy="43891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44768" y="5559552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000041"/>
          </a:solidFill>
          <a:ln w="12700">
            <a:solidFill>
              <a:srgbClr val="000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364224" y="5724144"/>
            <a:ext cx="5138928" cy="29260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Outcome: faster scenario setup and better supply-chain test coverage.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41248" y="57424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5757A"/>
                </a:solidFill>
              </a:rPr>
              <a:t>Live example: purchase orders + shipments + inventory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004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2. Profile operational data and surface risks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74352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jordanbean/source/repos/github-copilot-for-data-professionals/deck/assets/icons/github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2004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00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jordanbean/source/repos/github-copilot-for-data-professionals/deck/assets/icons/github-co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88" y="320040"/>
            <a:ext cx="292608" cy="292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442448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/home/jordanbean/source/repos/github-copilot-for-data-professionals/deck/assets/icons/microsoft-fabr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6" y="320040"/>
            <a:ext cx="292608" cy="29260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58368" y="10058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6FBFF"/>
          </a:solidFill>
          <a:ln w="1524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658368" y="1005840"/>
            <a:ext cx="128016" cy="1051560"/>
          </a:xfrm>
          <a:prstGeom prst="rect">
            <a:avLst/>
          </a:prstGeom>
          <a:solidFill>
            <a:srgbClr val="0078D3"/>
          </a:solidFill>
          <a:ln w="1270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932688" y="11521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Data task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32688" y="1536192"/>
            <a:ext cx="4800600" cy="42976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</a:rPr>
              <a:t>Understand order, shipment, and inventory quality before building downstream transformations.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58368" y="2212848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658368" y="2212848"/>
            <a:ext cx="128016" cy="14630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932688" y="23591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How Copilot helps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32688" y="2743200"/>
            <a:ext cx="4800600" cy="84124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Generate reusable profiling helpers for missing plants, blank carriers, value ranges, and sample records.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8368" y="3822192"/>
            <a:ext cx="52120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58368" y="3822192"/>
            <a:ext cx="128016" cy="157276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932688" y="39684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Value to the team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32688" y="4352544"/>
            <a:ext cx="4800600" cy="950976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</a:rPr>
              <a:t>Ad-hoc exploration becomes a repeatable profiling step for every supply-chain dataset.</a:t>
            </a:r>
            <a:endParaRPr lang="en-US" sz="1250" dirty="0"/>
          </a:p>
        </p:txBody>
      </p:sp>
      <p:pic>
        <p:nvPicPr>
          <p:cNvPr id="21" name="Image 3" descr="/home/jordanbean/source/repos/github-copilot-for-data-professionals/deck/assets/quality-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1005840"/>
            <a:ext cx="5577840" cy="43891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44768" y="5559552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000041"/>
          </a:solidFill>
          <a:ln w="12700">
            <a:solidFill>
              <a:srgbClr val="000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364224" y="5724144"/>
            <a:ext cx="5138928" cy="29260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Outcome: quicker issue discovery before pipeline logic is written.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41248" y="57424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5757A"/>
                </a:solidFill>
              </a:rPr>
              <a:t>Live example: automated profile summary for operational tables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004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3. Operationalize data quality checks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74352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jordanbean/source/repos/github-copilot-for-data-professionals/deck/assets/icons/github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2004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00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jordanbean/source/repos/github-copilot-for-data-professionals/deck/assets/icons/github-co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88" y="320040"/>
            <a:ext cx="292608" cy="292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442448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/home/jordanbean/source/repos/github-copilot-for-data-professionals/deck/assets/icons/microsoft-fabr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6" y="320040"/>
            <a:ext cx="292608" cy="29260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58368" y="10058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6FBFF"/>
          </a:solidFill>
          <a:ln w="1524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658368" y="1005840"/>
            <a:ext cx="128016" cy="1051560"/>
          </a:xfrm>
          <a:prstGeom prst="rect">
            <a:avLst/>
          </a:prstGeom>
          <a:solidFill>
            <a:srgbClr val="0078D3"/>
          </a:solidFill>
          <a:ln w="1270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932688" y="11521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Data task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32688" y="1536192"/>
            <a:ext cx="4800600" cy="42976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</a:rPr>
              <a:t>Enforce data contracts so bad operational records do not silently flow into analytics and models.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58368" y="2212848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658368" y="2212848"/>
            <a:ext cx="128016" cy="14630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932688" y="23591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How Copilot helps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32688" y="2743200"/>
            <a:ext cx="4800600" cy="84124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Draft validation rules for required fields, positive quantities, plausible dates, and non-negative costs.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8368" y="3822192"/>
            <a:ext cx="52120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58368" y="3822192"/>
            <a:ext cx="128016" cy="157276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932688" y="39684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Value to the team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32688" y="4352544"/>
            <a:ext cx="4800600" cy="950976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</a:rPr>
              <a:t>Higher reliability with less manual coding effort for recurring quality controls.</a:t>
            </a:r>
            <a:endParaRPr lang="en-US" sz="1250" dirty="0"/>
          </a:p>
        </p:txBody>
      </p:sp>
      <p:pic>
        <p:nvPicPr>
          <p:cNvPr id="21" name="Image 3" descr="/home/jordanbean/source/repos/github-copilot-for-data-professionals/deck/assets/quality-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1005840"/>
            <a:ext cx="5577840" cy="43891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44768" y="5559552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000041"/>
          </a:solidFill>
          <a:ln w="12700">
            <a:solidFill>
              <a:srgbClr val="000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364224" y="5724144"/>
            <a:ext cx="5138928" cy="29260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Outcome: better trust in supplier scorecards and inventory risk views.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41248" y="57424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5757A"/>
                </a:solidFill>
              </a:rPr>
              <a:t>Live example: PO, shipment, and inventory quarantine checks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004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4. Transform supplier and inventory signals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74352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jordanbean/source/repos/github-copilot-for-data-professionals/deck/assets/icons/github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2004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00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jordanbean/source/repos/github-copilot-for-data-professionals/deck/assets/icons/github-co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88" y="320040"/>
            <a:ext cx="292608" cy="292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442448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/home/jordanbean/source/repos/github-copilot-for-data-professionals/deck/assets/icons/microsoft-fabr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6" y="320040"/>
            <a:ext cx="292608" cy="29260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58368" y="10058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6FBFF"/>
          </a:solidFill>
          <a:ln w="1524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658368" y="1005840"/>
            <a:ext cx="128016" cy="1051560"/>
          </a:xfrm>
          <a:prstGeom prst="rect">
            <a:avLst/>
          </a:prstGeom>
          <a:solidFill>
            <a:srgbClr val="0078D3"/>
          </a:solidFill>
          <a:ln w="1270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932688" y="11521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Data task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32688" y="1536192"/>
            <a:ext cx="4800600" cy="42976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</a:rPr>
              <a:t>Move from local dataframe logic to scalable Fabric lakehouse transformations for supplier and stockout risk.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58368" y="2212848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658368" y="2212848"/>
            <a:ext cx="128016" cy="14630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932688" y="23591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How Copilot helps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32688" y="2743200"/>
            <a:ext cx="4800600" cy="84124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Translate pandas scorecards into PySpark and propose Delta table write patterns for reuse.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8368" y="3822192"/>
            <a:ext cx="52120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58368" y="3822192"/>
            <a:ext cx="128016" cy="157276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932688" y="39684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Value to the team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32688" y="4352544"/>
            <a:ext cx="4800600" cy="950976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</a:rPr>
              <a:t>Faster path from prototype to production-ready processing in Microsoft Fabric.</a:t>
            </a:r>
            <a:endParaRPr lang="en-US" sz="1250" dirty="0"/>
          </a:p>
        </p:txBody>
      </p:sp>
      <p:pic>
        <p:nvPicPr>
          <p:cNvPr id="21" name="Image 3" descr="/home/jordanbean/source/repos/github-copilot-for-data-professionals/deck/assets/fabric-archite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1005840"/>
            <a:ext cx="5577840" cy="43891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44768" y="5559552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000041"/>
          </a:solidFill>
          <a:ln w="12700">
            <a:solidFill>
              <a:srgbClr val="000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364224" y="5724144"/>
            <a:ext cx="5138928" cy="29260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Outcome: reduced rework when scaling local logic.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41248" y="57424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5757A"/>
                </a:solidFill>
              </a:rPr>
              <a:t>Live example: supplier delivery + inventory risk transformations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004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5. Analyze supply-chain risk in SQL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74352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jordanbean/source/repos/github-copilot-for-data-professionals/deck/assets/icons/github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2004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00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jordanbean/source/repos/github-copilot-for-data-professionals/deck/assets/icons/github-co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88" y="320040"/>
            <a:ext cx="292608" cy="292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442448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/home/jordanbean/source/repos/github-copilot-for-data-professionals/deck/assets/icons/microsoft-fabr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6" y="320040"/>
            <a:ext cx="292608" cy="29260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58368" y="10058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6FBFF"/>
          </a:solidFill>
          <a:ln w="1524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658368" y="1005840"/>
            <a:ext cx="128016" cy="1051560"/>
          </a:xfrm>
          <a:prstGeom prst="rect">
            <a:avLst/>
          </a:prstGeom>
          <a:solidFill>
            <a:srgbClr val="0078D3"/>
          </a:solidFill>
          <a:ln w="1270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932688" y="11521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Data task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32688" y="1536192"/>
            <a:ext cx="4800600" cy="42976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</a:rPr>
              <a:t>Turn operational questions into explainable SQL analysis on lakehouse tables.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58368" y="2212848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658368" y="2212848"/>
            <a:ext cx="128016" cy="14630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932688" y="23591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How Copilot helps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32688" y="2743200"/>
            <a:ext cx="4800600" cy="84124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Draft the SQL, then explain assumptions in joins, filters, and window logic.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8368" y="3822192"/>
            <a:ext cx="52120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58368" y="3822192"/>
            <a:ext cx="128016" cy="157276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932688" y="39684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Value to the team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32688" y="4352544"/>
            <a:ext cx="4800600" cy="950976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</a:rPr>
              <a:t>Analysts identify risky suppliers, lanes, and parts faster while keeping logic transparent.</a:t>
            </a:r>
            <a:endParaRPr lang="en-US" sz="1250" dirty="0"/>
          </a:p>
        </p:txBody>
      </p:sp>
      <p:pic>
        <p:nvPicPr>
          <p:cNvPr id="21" name="Image 3" descr="/home/jordanbean/source/repos/github-copilot-for-data-professionals/deck/assets/sql-analy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1005840"/>
            <a:ext cx="5577840" cy="43891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44768" y="5559552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000041"/>
          </a:solidFill>
          <a:ln w="12700">
            <a:solidFill>
              <a:srgbClr val="000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364224" y="5724144"/>
            <a:ext cx="5138928" cy="29260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Outcome: quicker insight generation with clearer SQL intent.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41248" y="57424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5757A"/>
                </a:solidFill>
              </a:rPr>
              <a:t>Live example: late-delivery and stockout risk analysis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004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6. Predict late-shipment risk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74352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jordanbean/source/repos/github-copilot-for-data-professionals/deck/assets/icons/github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320040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58400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jordanbean/source/repos/github-copilot-for-data-professionals/deck/assets/icons/github-co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88" y="320040"/>
            <a:ext cx="292608" cy="2926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442448" y="30175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/home/jordanbean/source/repos/github-copilot-for-data-professionals/deck/assets/icons/microsoft-fabr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6" y="320040"/>
            <a:ext cx="292608" cy="29260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58368" y="10058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6FBFF"/>
          </a:solidFill>
          <a:ln w="1524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/>
          <p:cNvSpPr/>
          <p:nvPr/>
        </p:nvSpPr>
        <p:spPr>
          <a:xfrm>
            <a:off x="658368" y="1005840"/>
            <a:ext cx="128016" cy="1051560"/>
          </a:xfrm>
          <a:prstGeom prst="rect">
            <a:avLst/>
          </a:prstGeom>
          <a:solidFill>
            <a:srgbClr val="0078D3"/>
          </a:solidFill>
          <a:ln w="1270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932688" y="1152144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Data task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32688" y="1536192"/>
            <a:ext cx="4800600" cy="42976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</a:rPr>
              <a:t>Create supply-chain risk features and evaluate a baseline model from orders, shipments, and inventory.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58368" y="2212848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658368" y="2212848"/>
            <a:ext cx="128016" cy="14630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932688" y="2359152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How Copilot helps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32688" y="2743200"/>
            <a:ext cx="4800600" cy="84124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Suggest additional features, check leakage risk, and explain likely drivers in plain language.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8368" y="3822192"/>
            <a:ext cx="52120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58368" y="3822192"/>
            <a:ext cx="128016" cy="157276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932688" y="3968496"/>
            <a:ext cx="480060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41"/>
                </a:solidFill>
              </a:rPr>
              <a:t>Value to the team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32688" y="4352544"/>
            <a:ext cx="4800600" cy="950976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</a:rPr>
              <a:t>Data scientists iterate on experiments faster and communicate model behavior more clearly.</a:t>
            </a:r>
            <a:endParaRPr lang="en-US" sz="1250" dirty="0"/>
          </a:p>
        </p:txBody>
      </p:sp>
      <p:pic>
        <p:nvPicPr>
          <p:cNvPr id="21" name="Image 3" descr="/home/jordanbean/source/repos/github-copilot-for-data-professionals/deck/assets/model-featur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1005840"/>
            <a:ext cx="5577840" cy="43891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44768" y="5559552"/>
            <a:ext cx="5577840" cy="658368"/>
          </a:xfrm>
          <a:prstGeom prst="roundRect">
            <a:avLst>
              <a:gd name="adj" fmla="val 11111"/>
            </a:avLst>
          </a:prstGeom>
          <a:solidFill>
            <a:srgbClr val="000041"/>
          </a:solidFill>
          <a:ln w="12700">
            <a:solidFill>
              <a:srgbClr val="0000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364224" y="5724144"/>
            <a:ext cx="5138928" cy="29260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Outcome: shorter experiment cycles and better stakeholder understanding.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41248" y="57424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75757A"/>
                </a:solidFill>
              </a:rPr>
              <a:t>Live example: late-shipment feature set and classification baseline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0004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Prompt framework that works for data teams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222992" y="320040"/>
            <a:ext cx="338328" cy="338328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jordanbean/source/repos/github-copilot-for-data-professionals/deck/assets/icons/github-copi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38328"/>
            <a:ext cx="301752" cy="3017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616184" y="320040"/>
            <a:ext cx="338328" cy="338328"/>
          </a:xfrm>
          <a:prstGeom prst="roundRect">
            <a:avLst>
              <a:gd name="adj" fmla="val 108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home/jordanbean/source/repos/github-copilot-for-data-professionals/deck/assets/icons/microsoft-fabr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4472" y="338328"/>
            <a:ext cx="301752" cy="3017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13232" y="109728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13232" y="1097280"/>
            <a:ext cx="128016" cy="1005840"/>
          </a:xfrm>
          <a:prstGeom prst="rect">
            <a:avLst/>
          </a:prstGeom>
          <a:solidFill>
            <a:srgbClr val="0078D3"/>
          </a:solidFill>
          <a:ln w="1270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87552" y="1243584"/>
            <a:ext cx="1056132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0041"/>
                </a:solidFill>
              </a:rPr>
              <a:t>1. Context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87552" y="1627632"/>
            <a:ext cx="10561320" cy="38404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Dataset shape, schema, platform (Fabric), and business goal.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13232" y="233172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13232" y="2331720"/>
            <a:ext cx="128016" cy="10058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987552" y="2478024"/>
            <a:ext cx="1056132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0041"/>
                </a:solidFill>
              </a:rPr>
              <a:t>2. Task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987552" y="2862072"/>
            <a:ext cx="10561320" cy="38404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What to produce: code, SQL, tests, explanation, or refactor.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13232" y="356616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13232" y="3566160"/>
            <a:ext cx="128016" cy="10058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987552" y="3712464"/>
            <a:ext cx="1056132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0041"/>
                </a:solidFill>
              </a:rPr>
              <a:t>3. Constraints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987552" y="4096512"/>
            <a:ext cx="10561320" cy="38404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Performance limits, naming standards, privacy requirements, and accepted libraries.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13232" y="4800600"/>
            <a:ext cx="10972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13232" y="4800600"/>
            <a:ext cx="128016" cy="100584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987552" y="4946904"/>
            <a:ext cx="1056132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0041"/>
                </a:solidFill>
              </a:rPr>
              <a:t>4. Verification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987552" y="5330952"/>
            <a:ext cx="10561320" cy="38404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Ask Copilot to add tests, edge cases, assumptions, and failure handling.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00004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to measure value</a:t>
            </a:r>
            <a:endParaRPr lang="en-US" sz="3500" dirty="0"/>
          </a:p>
        </p:txBody>
      </p:sp>
      <p:pic>
        <p:nvPicPr>
          <p:cNvPr id="3" name="Image 0" descr="/home/jordanbean/source/repos/github-copilot-for-data-professionals/deck/assets/metrics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7280"/>
            <a:ext cx="576072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948672" y="310896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/home/jordanbean/source/repos/github-copilot-for-data-professionals/deck/assets/icons/github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329184"/>
            <a:ext cx="292608" cy="29260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332720" y="310896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635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2" descr="/home/jordanbean/source/repos/github-copilot-for-data-professionals/deck/assets/icons/github-copi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08" y="329184"/>
            <a:ext cx="292608" cy="29260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720840" y="114300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6720840" y="1143000"/>
            <a:ext cx="128016" cy="1051560"/>
          </a:xfrm>
          <a:prstGeom prst="rect">
            <a:avLst/>
          </a:prstGeom>
          <a:solidFill>
            <a:srgbClr val="0078D3"/>
          </a:solidFill>
          <a:ln w="12700">
            <a:solidFill>
              <a:srgbClr val="0078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995160" y="1289304"/>
            <a:ext cx="452628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41"/>
                </a:solidFill>
              </a:rPr>
              <a:t>Speed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995160" y="1673352"/>
            <a:ext cx="4526280" cy="42976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</a:rPr>
              <a:t>Time to first working draft for notebook, transform, or SQL query.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720840" y="2359152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/>
          <p:cNvSpPr/>
          <p:nvPr/>
        </p:nvSpPr>
        <p:spPr>
          <a:xfrm>
            <a:off x="6720840" y="2359152"/>
            <a:ext cx="128016" cy="105156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995160" y="2505456"/>
            <a:ext cx="452628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41"/>
                </a:solidFill>
              </a:rPr>
              <a:t>Quality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995160" y="2889504"/>
            <a:ext cx="4526280" cy="42976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</a:rPr>
              <a:t>Defect escape rate, test coverage on generated helpers, and review findings.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720840" y="3575304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720840" y="3575304"/>
            <a:ext cx="128016" cy="10515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995160" y="37216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41"/>
                </a:solidFill>
              </a:rPr>
              <a:t>Reuse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995160" y="4105656"/>
            <a:ext cx="4526280" cy="42976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</a:rPr>
              <a:t>Adoption of shared prompt templates and common utility modules.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720840" y="4791456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F763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720840" y="4791456"/>
            <a:ext cx="128016" cy="1051560"/>
          </a:xfrm>
          <a:prstGeom prst="rect">
            <a:avLst/>
          </a:prstGeom>
          <a:solidFill>
            <a:srgbClr val="F7630C"/>
          </a:solidFill>
          <a:ln w="12700">
            <a:solidFill>
              <a:srgbClr val="F763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995160" y="49377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0041"/>
                </a:solidFill>
              </a:rPr>
              <a:t>Business impact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995160" y="5321808"/>
            <a:ext cx="4526280" cy="429768"/>
          </a:xfrm>
          <a:prstGeom prst="rect">
            <a:avLst/>
          </a:prstGeom>
          <a:noFill/>
          <a:ln/>
        </p:spPr>
        <p:txBody>
          <a:bodyPr wrap="square" lIns="254" tIns="12700" rIns="254" bIns="1270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</a:rPr>
              <a:t>Faster cycle time from data ingestion to trusted analytics decisions.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50C2843D-B81A-BFA7-F044-F8536623C4B9}"/>
              </a:ext>
            </a:extLst>
          </p:cNvPr>
          <p:cNvSpPr/>
          <p:nvPr/>
        </p:nvSpPr>
        <p:spPr>
          <a:xfrm>
            <a:off x="566928" y="31089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12700" rIns="0" bIns="1270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004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Questions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41808144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TEMPLATE">
  <a:themeElements>
    <a:clrScheme name="MSVID White and Teal_10-2014">
      <a:dk1>
        <a:srgbClr val="505050"/>
      </a:dk1>
      <a:lt1>
        <a:srgbClr val="FFFFFF"/>
      </a:lt1>
      <a:dk2>
        <a:srgbClr val="008272"/>
      </a:dk2>
      <a:lt2>
        <a:srgbClr val="D5F7F6"/>
      </a:lt2>
      <a:accent1>
        <a:srgbClr val="008272"/>
      </a:accent1>
      <a:accent2>
        <a:srgbClr val="B4009E"/>
      </a:accent2>
      <a:accent3>
        <a:srgbClr val="004B50"/>
      </a:accent3>
      <a:accent4>
        <a:srgbClr val="0078D7"/>
      </a:accent4>
      <a:accent5>
        <a:srgbClr val="5C2D91"/>
      </a:accent5>
      <a:accent6>
        <a:srgbClr val="D83B01"/>
      </a:accent6>
      <a:hlink>
        <a:srgbClr val="008272"/>
      </a:hlink>
      <a:folHlink>
        <a:srgbClr val="0082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oduct_Brand_template_16-9_Business_TEAL_1" id="{5E4F6A35-5222-4964-BF6B-D8D6040D0130}" vid="{5DED90E8-4E6D-48DC-ABF5-5DF803FF645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0-WTH-Lectures-Template</Template>
  <TotalTime>6</TotalTime>
  <Words>1121</Words>
  <Application>Microsoft Office PowerPoint</Application>
  <PresentationFormat>Custom</PresentationFormat>
  <Paragraphs>132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Segoe UI</vt:lpstr>
      <vt:lpstr>Segoe UI Light</vt:lpstr>
      <vt:lpstr>Segoe UI Semibold</vt:lpstr>
      <vt:lpstr>WHITE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for Data Professionals</dc:title>
  <dc:subject>GitHub Copilot for supply-chain data engineers and data scientists</dc:subject>
  <dc:creator>Jordan Bean</dc:creator>
  <cp:lastModifiedBy>Jordan Bean</cp:lastModifiedBy>
  <cp:revision>14</cp:revision>
  <dcterms:created xsi:type="dcterms:W3CDTF">2026-08-30T23:26:51Z</dcterms:created>
  <dcterms:modified xsi:type="dcterms:W3CDTF">2026-08-31T01:29:44Z</dcterms:modified>
</cp:coreProperties>
</file>